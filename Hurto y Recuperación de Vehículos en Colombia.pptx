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1" r:id="rId5"/>
    <p:sldId id="263" r:id="rId6"/>
    <p:sldId id="267" r:id="rId7"/>
    <p:sldId id="276" r:id="rId8"/>
    <p:sldId id="277" r:id="rId9"/>
    <p:sldId id="27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3" d="100"/>
          <a:sy n="73" d="100"/>
        </p:scale>
        <p:origin x="4320" y="2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7536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sustentación. Metodología CRISP-DM: fases de entendimiento y preparación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conjuntos se fusionaron en una sola matriz analítica a nivel de municipio, año y tipo de vehículo.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de barras agrupadas: total de vehículos hurtados acumulados por departamento (top 10) y tipo de vehículo. Mensaje: el hurto se concentra en pocos departamentos y es sobre todo un problema de motocicletas.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Boxplot horizontal con detección por IQR. La caja casi no se ve porque el 75% de los datos está entre 0 y 2. Los puntos rojos son los outliers conservados.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de correlación de Pearson entre las cuatro variables numéricas. Nota: el título del gráfico aparece cortado en la imagen original; conviene corregirlo antes de entregar.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Profesor, construimos una matriz analítica integrada a nivel de municipio, año y tipo de vehículo. Usamos DANE DIVIPOLA para garantizar integridad referencial y evitar duplicidades por homónimos municipales.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de transformacion.py: tres columnas numéricas escaladas.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Máximo cuatro preguntas SÍ/NO sobre variables escaladas con RobustScaler.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04950"/>
            <a:ext cx="10566400" cy="454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04950"/>
            <a:ext cx="10566400" cy="454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2407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Minería de Datos · UNIMINUTO Sede Ibagué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568575"/>
            <a:ext cx="10883392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600" b="1" i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Hurto y recuperación de vehículos en Colombia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12800" y="3965575"/>
            <a:ext cx="1088339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C9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 de decisiones, escalamiento de datos y árboles de decisión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79755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Docente: Esteban Ernesto Morales Castro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fuentes oficiales, una matriz integrada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31925"/>
            <a:ext cx="3397250" cy="1250950"/>
          </a:xfrm>
          <a:prstGeom prst="roundRect">
            <a:avLst>
              <a:gd name="adj" fmla="val 7868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047750" y="1663700"/>
            <a:ext cx="30217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DIJIN · Hurto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981200"/>
            <a:ext cx="31623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386.071 filas de vehículos hurtados.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97375" y="1431925"/>
            <a:ext cx="3397250" cy="1250950"/>
          </a:xfrm>
          <a:prstGeom prst="roundRect">
            <a:avLst>
              <a:gd name="adj" fmla="val 7868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629150" y="1663700"/>
            <a:ext cx="30217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DIJIN · Recuperación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29150" y="1981200"/>
            <a:ext cx="302171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286.258 filas de vehículos recuperados.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78775" y="1431925"/>
            <a:ext cx="3397250" cy="1250950"/>
          </a:xfrm>
          <a:prstGeom prst="roundRect">
            <a:avLst>
              <a:gd name="adj" fmla="val 7868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210550" y="1663700"/>
            <a:ext cx="30217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 · Parque automotor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10550" y="1981200"/>
            <a:ext cx="302171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191.640 filas de vehículos registrados.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2917825"/>
            <a:ext cx="4400550" cy="1720850"/>
          </a:xfrm>
          <a:prstGeom prst="roundRect">
            <a:avLst>
              <a:gd name="adj" fmla="val 5720"/>
            </a:avLst>
          </a:prstGeom>
          <a:solidFill>
            <a:srgbClr val="14213D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3" name="Text 11"/>
          <p:cNvSpPr/>
          <p:nvPr/>
        </p:nvSpPr>
        <p:spPr>
          <a:xfrm>
            <a:off x="1047750" y="3149600"/>
            <a:ext cx="40551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Llave compuesta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47750" y="3467100"/>
            <a:ext cx="405511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DANE DIVIPOLA del municipio (5 dígitos) + Año + Tipo de vehículo.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00675" y="2917825"/>
            <a:ext cx="5975350" cy="1720850"/>
          </a:xfrm>
          <a:prstGeom prst="roundRect">
            <a:avLst>
              <a:gd name="adj" fmla="val 5720"/>
            </a:avLst>
          </a:prstGeom>
          <a:solidFill>
            <a:srgbClr val="14213D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632450" y="3149600"/>
            <a:ext cx="56771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32450" y="3467100"/>
            <a:ext cx="5677154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54.428 filas con 0 nulos (100% de completitud). Variables: AÑO, VEHICULOS_REGISTRADOS, VEHICULOS_HURTADOS, VEHICULOS_RECUPERADOS, TIPO_VEHICULO, DEPARTAMENTO.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938924" y="738778"/>
            <a:ext cx="1088339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080"/>
              </a:lnSpc>
            </a:pPr>
            <a:r>
              <a:rPr lang="en-US" sz="1800" b="1" i="0" dirty="0">
                <a:solidFill>
                  <a:srgbClr val="1B1F2A"/>
                </a:solidFill>
                <a:latin typeface="+mn-lt"/>
                <a:ea typeface="Arial" pitchFamily="34" charset="-122"/>
                <a:cs typeface="Arial" pitchFamily="34" charset="-120"/>
              </a:rPr>
              <a:t>GRAFICO DE BARRAS                                                </a:t>
            </a:r>
            <a:r>
              <a:rPr lang="en-US" sz="1800" b="1" dirty="0">
                <a:latin typeface="+mn-lt"/>
              </a:rPr>
              <a:t>GRAFICO DE BOXPLOT</a:t>
            </a:r>
          </a:p>
        </p:txBody>
      </p:sp>
      <p:pic>
        <p:nvPicPr>
          <p:cNvPr id="4" name="Image 0" descr="Barras de hurtos acumulados por departamento y tipo de vehícu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6" y="1692687"/>
            <a:ext cx="6313864" cy="3472625"/>
          </a:xfrm>
          <a:prstGeom prst="rect">
            <a:avLst/>
          </a:prstGeom>
        </p:spPr>
      </p:pic>
      <p:pic>
        <p:nvPicPr>
          <p:cNvPr id="8" name="Image 0" descr="Boxplot de hurtos por departamento y tipo de vehículo">
            <a:extLst>
              <a:ext uri="{FF2B5EF4-FFF2-40B4-BE49-F238E27FC236}">
                <a16:creationId xmlns:a16="http://schemas.microsoft.com/office/drawing/2014/main" id="{C856B099-8965-D779-BAAF-FD237226F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833" y="1702211"/>
            <a:ext cx="5503450" cy="3472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outliers: 8.344 registros (15,33%)</a:t>
            </a:r>
            <a:endParaRPr lang="en-US" sz="2800" dirty="0"/>
          </a:p>
        </p:txBody>
      </p:sp>
      <p:pic>
        <p:nvPicPr>
          <p:cNvPr id="4" name="Image 0" descr="Boxplot de detección de outliers por IQ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78" y="1624394"/>
            <a:ext cx="5718284" cy="4420805"/>
          </a:xfrm>
          <a:prstGeom prst="rect">
            <a:avLst/>
          </a:prstGeom>
        </p:spPr>
      </p:pic>
      <p:pic>
        <p:nvPicPr>
          <p:cNvPr id="8" name="Image 0" descr="Histograma de hurtos con media y mediana">
            <a:extLst>
              <a:ext uri="{FF2B5EF4-FFF2-40B4-BE49-F238E27FC236}">
                <a16:creationId xmlns:a16="http://schemas.microsoft.com/office/drawing/2014/main" id="{27AA9B9E-919E-6EA7-A1A3-96CC8708D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24394"/>
            <a:ext cx="5956300" cy="44208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Correlaciones: el hurto se asocia con la recuperación</a:t>
            </a:r>
            <a:endParaRPr lang="en-US" sz="2800" dirty="0"/>
          </a:p>
        </p:txBody>
      </p:sp>
      <p:pic>
        <p:nvPicPr>
          <p:cNvPr id="4" name="Image 0" descr="Mapa de calor de correlaciones de Pears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78" y="1687349"/>
            <a:ext cx="5520898" cy="4555796"/>
          </a:xfrm>
          <a:prstGeom prst="rect">
            <a:avLst/>
          </a:prstGeom>
        </p:spPr>
      </p:pic>
      <p:pic>
        <p:nvPicPr>
          <p:cNvPr id="8" name="Image 0" descr="Líneas de tasa de recuperación por tipo de vehículo">
            <a:extLst>
              <a:ext uri="{FF2B5EF4-FFF2-40B4-BE49-F238E27FC236}">
                <a16:creationId xmlns:a16="http://schemas.microsoft.com/office/drawing/2014/main" id="{C3A890CC-4CCB-2833-58C5-9EC9878EE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87349"/>
            <a:ext cx="5956300" cy="4555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>
              <a:lnSpc>
                <a:spcPts val="3080"/>
              </a:lnSpc>
            </a:pPr>
            <a:r>
              <a:rPr lang="en-US" sz="28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Integración relacional con </a:t>
            </a:r>
            <a:r>
              <a:rPr lang="en-US" b="1" dirty="0"/>
              <a:t>DIVIPOLA</a:t>
            </a:r>
            <a:br>
              <a:rPr lang="en-US" b="1" dirty="0"/>
            </a:br>
            <a:r>
              <a:rPr lang="en-US" b="1" dirty="0"/>
              <a:t>2 · Cero </a:t>
            </a:r>
            <a:r>
              <a:rPr lang="en-US" b="1" dirty="0" err="1"/>
              <a:t>nulos</a:t>
            </a:r>
            <a:r>
              <a:rPr lang="en-US" b="1" dirty="0"/>
              <a:t> por </a:t>
            </a:r>
            <a:r>
              <a:rPr lang="en-US" b="1" dirty="0" err="1"/>
              <a:t>imputación</a:t>
            </a:r>
            <a:r>
              <a:rPr lang="en-US" b="1" dirty="0"/>
              <a:t> </a:t>
            </a:r>
            <a:r>
              <a:rPr lang="en-US" b="1" dirty="0" err="1"/>
              <a:t>lógica</a:t>
            </a:r>
            <a:br>
              <a:rPr lang="en-US" b="1" dirty="0"/>
            </a:br>
            <a:r>
              <a:rPr lang="en-US" b="1" dirty="0"/>
              <a:t>3 · </a:t>
            </a:r>
            <a:r>
              <a:rPr lang="en-US" b="1" dirty="0" err="1"/>
              <a:t>Conservar</a:t>
            </a:r>
            <a:r>
              <a:rPr lang="en-US" b="1" dirty="0"/>
              <a:t> </a:t>
            </a:r>
            <a:r>
              <a:rPr lang="en-US" b="1" dirty="0" err="1"/>
              <a:t>todos</a:t>
            </a:r>
            <a:r>
              <a:rPr lang="en-US" b="1" dirty="0"/>
              <a:t> los outliers</a:t>
            </a:r>
            <a:br>
              <a:rPr lang="en-US" b="1" dirty="0"/>
            </a:br>
            <a:r>
              <a:rPr lang="en-US" b="1" dirty="0"/>
              <a:t>4 · </a:t>
            </a:r>
            <a:r>
              <a:rPr lang="en-US" b="1" dirty="0" err="1"/>
              <a:t>Estimadores</a:t>
            </a:r>
            <a:r>
              <a:rPr lang="en-US" b="1" dirty="0"/>
              <a:t> </a:t>
            </a:r>
            <a:r>
              <a:rPr lang="en-US" b="1" dirty="0" err="1"/>
              <a:t>robustos</a:t>
            </a:r>
            <a:r>
              <a:rPr lang="en-US" b="1" dirty="0"/>
              <a:t>: </a:t>
            </a:r>
            <a:r>
              <a:rPr lang="en-US" b="1" dirty="0" err="1"/>
              <a:t>mediana</a:t>
            </a:r>
            <a:r>
              <a:rPr lang="en-US" b="1" dirty="0"/>
              <a:t> e IQR</a:t>
            </a:r>
            <a:br>
              <a:rPr lang="en-US" b="1" dirty="0"/>
            </a:br>
            <a:r>
              <a:rPr lang="en-US" b="1" dirty="0"/>
              <a:t>5 · </a:t>
            </a:r>
            <a:r>
              <a:rPr lang="en-US" b="1" dirty="0" err="1"/>
              <a:t>Escalador</a:t>
            </a:r>
            <a:r>
              <a:rPr lang="en-US" b="1" dirty="0"/>
              <a:t> </a:t>
            </a:r>
            <a:r>
              <a:rPr lang="en-US" b="1" dirty="0" err="1"/>
              <a:t>robusto</a:t>
            </a:r>
            <a:r>
              <a:rPr lang="en-US" b="1" dirty="0"/>
              <a:t> (</a:t>
            </a:r>
            <a:r>
              <a:rPr lang="en-US" b="1" dirty="0" err="1"/>
              <a:t>RobustScaler</a:t>
            </a:r>
            <a:r>
              <a:rPr lang="en-US" b="1" dirty="0"/>
              <a:t>)</a:t>
            </a:r>
            <a:br>
              <a:rPr lang="en-US" b="1" dirty="0"/>
            </a:br>
            <a:r>
              <a:rPr lang="en-US" b="1" dirty="0"/>
              <a:t>6 · One-Hot Encoding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92200" y="3898900"/>
            <a:ext cx="1030782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i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Profesor, construimos una matriz analítica integrada a nivel de municipio, año y tipo de vehículo. Usamos DANE DIVIPOLA para garantizar integridad referencial y evitar duplicidades por homónimos municipales.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escaladas con RobustScaler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31925"/>
            <a:ext cx="3397250" cy="1949450"/>
          </a:xfrm>
          <a:prstGeom prst="roundRect">
            <a:avLst>
              <a:gd name="adj" fmla="val 5049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047750" y="1663700"/>
            <a:ext cx="30217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AÑO_rob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981200"/>
            <a:ext cx="3021711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Mediana: 2010 (= 0,0). IQR: 28 años (1991 a 2019). Positivo = dato moderno (2011 a 2026); negativo = histórico.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97375" y="1431925"/>
            <a:ext cx="3397250" cy="1949450"/>
          </a:xfrm>
          <a:prstGeom prst="roundRect">
            <a:avLst>
              <a:gd name="adj" fmla="val 5049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629150" y="1663700"/>
            <a:ext cx="302171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VEHICULOS_REGISTRADOS_rob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29150" y="2209800"/>
            <a:ext cx="3021711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Mediana: 4 (= 0,0). IQR: 93 (Q1 = 0, Q3 = 93). Valor 1,0 = 93 vehículos. Mayor a 2,45 = outlier Tukey (más de 232).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78775" y="1431925"/>
            <a:ext cx="3397250" cy="1949450"/>
          </a:xfrm>
          <a:prstGeom prst="roundRect">
            <a:avLst>
              <a:gd name="adj" fmla="val 5049"/>
            </a:avLst>
          </a:prstGeom>
          <a:solidFill>
            <a:srgbClr val="FFFFFF"/>
          </a:solidFill>
          <a:ln w="6350">
            <a:solidFill>
              <a:srgbClr val="E1DDD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210550" y="1663700"/>
            <a:ext cx="302171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VEHICULOS_RECUPERADOS_rob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10550" y="2209800"/>
            <a:ext cx="3021711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Mediana: 0. IQR: 2 (Q1 = 0, Q3 = 2). Valor 1,0 = 2 recuperaciones. Mayor a 2,5 = operativos masivos en capitales.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192690" y="177218"/>
            <a:ext cx="3559503" cy="371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91"/>
              </a:lnSpc>
              <a:buNone/>
            </a:pPr>
            <a:r>
              <a:rPr lang="en-US" sz="2538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 1 · Motocicletas</a:t>
            </a:r>
            <a:endParaRPr lang="en-US" sz="2538" dirty="0"/>
          </a:p>
        </p:txBody>
      </p:sp>
      <p:sp>
        <p:nvSpPr>
          <p:cNvPr id="3" name="Text 1"/>
          <p:cNvSpPr/>
          <p:nvPr/>
        </p:nvSpPr>
        <p:spPr>
          <a:xfrm>
            <a:off x="192690" y="560439"/>
            <a:ext cx="4579009" cy="2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96"/>
              </a:lnSpc>
              <a:buNone/>
            </a:pPr>
            <a:r>
              <a:rPr lang="en-US" sz="1200" dirty="0">
                <a:solidFill>
                  <a:srgbClr val="5C6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del 75% de los hurtos, 23 hurtos por cada 1.000 motos y 41,3% de recuperación (deshuese y venta de autopartes).</a:t>
            </a:r>
            <a:endParaRPr lang="en-US" sz="1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9C86E1-E38A-A0DC-6390-B22CD47F65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115322" y="992821"/>
            <a:ext cx="5980678" cy="56159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87C213E-F750-A9B6-B051-0880564667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6096000" y="992820"/>
            <a:ext cx="5813061" cy="5760018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D1DAAA46-41F7-2858-9BFF-203712F37673}"/>
              </a:ext>
            </a:extLst>
          </p:cNvPr>
          <p:cNvSpPr txBox="1">
            <a:spLocks/>
          </p:cNvSpPr>
          <p:nvPr/>
        </p:nvSpPr>
        <p:spPr>
          <a:xfrm>
            <a:off x="6096000" y="177217"/>
            <a:ext cx="5020441" cy="371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ct val="0"/>
              </a:spcBef>
              <a:buNone/>
              <a:defRPr lang="en-US" sz="2800" kern="12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>
              <a:lnSpc>
                <a:spcPts val="2791"/>
              </a:lnSpc>
            </a:pPr>
            <a:r>
              <a:rPr lang="es-CO" sz="2538" b="1"/>
              <a:t>Árbol 2 · Automotores (carros)</a:t>
            </a:r>
            <a:endParaRPr lang="es-CO" sz="2538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354B6E4-DF02-EB60-0BAB-554102A42FFA}"/>
              </a:ext>
            </a:extLst>
          </p:cNvPr>
          <p:cNvSpPr/>
          <p:nvPr/>
        </p:nvSpPr>
        <p:spPr>
          <a:xfrm>
            <a:off x="6173076" y="604087"/>
            <a:ext cx="5556469" cy="18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96"/>
              </a:lnSpc>
              <a:buNone/>
            </a:pPr>
            <a:r>
              <a:rPr lang="en-US" sz="1200" dirty="0">
                <a:solidFill>
                  <a:srgbClr val="5C6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del 25% del volumen, pero mayor impacto patrimonial: atraco armado, inhibidores GPS, gemeleo de placas. Recuperación de 60,6%.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F8909F-2978-4825-BC0E-7040787F2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5748C5-0435-407B-9C60-0DD75F77EF68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3E81D27-2109-4064-ACD0-B3D3AF359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9150"/>
            <a:ext cx="1219200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367039"/>
      </p:ext>
    </p:extLst>
  </p:cSld>
  <p:clrMapOvr>
    <a:masterClrMapping/>
  </p:clrMapOvr>
</p:sld>
</file>

<file path=ppt/theme/theme1.xml><?xml version="1.0" encoding="utf-8"?>
<a:theme xmlns:a="http://schemas.openxmlformats.org/drawingml/2006/main" name="Hurto y Recuperación de Vehículos en Colombia">
  <a:themeElements>
    <a:clrScheme name="Hurto y Recuperación de Vehículos en Colombia">
      <a:dk1>
        <a:srgbClr val="1B1F2A"/>
      </a:dk1>
      <a:lt1>
        <a:srgbClr val="F6F4EE"/>
      </a:lt1>
      <a:dk2>
        <a:srgbClr val="52545B"/>
      </a:dk2>
      <a:lt2>
        <a:srgbClr val="E0DFDA"/>
      </a:lt2>
      <a:accent1>
        <a:srgbClr val="B45309"/>
      </a:accent1>
      <a:accent2>
        <a:srgbClr val="F4A259"/>
      </a:accent2>
      <a:accent3>
        <a:srgbClr val="1F2F55"/>
      </a:accent3>
      <a:accent4>
        <a:srgbClr val="5C6370"/>
      </a:accent4>
      <a:accent5>
        <a:srgbClr val="C9D1E3"/>
      </a:accent5>
      <a:accent6>
        <a:srgbClr val="9AA0A6"/>
      </a:accent6>
      <a:hlink>
        <a:srgbClr val="0563C1"/>
      </a:hlink>
      <a:folHlink>
        <a:srgbClr val="954F72"/>
      </a:folHlink>
    </a:clrScheme>
    <a:fontScheme name="Hurto y Recuperación de Vehículos en Colombi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2938</TotalTime>
  <Words>592</Words>
  <Application>Microsoft Office PowerPoint</Application>
  <PresentationFormat>Panorámica</PresentationFormat>
  <Paragraphs>47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Aptos</vt:lpstr>
      <vt:lpstr>Arial</vt:lpstr>
      <vt:lpstr>Hurto y Recuperación de Vehículos en Colombia</vt:lpstr>
      <vt:lpstr>Hurto y recuperación de vehículos en Colombia</vt:lpstr>
      <vt:lpstr>Tres fuentes oficiales, una matriz integrada</vt:lpstr>
      <vt:lpstr>GRAFICO DE BARRAS                                                GRAFICO DE BOXPLOT</vt:lpstr>
      <vt:lpstr>Los outliers: 8.344 registros (15,33%)</vt:lpstr>
      <vt:lpstr>Correlaciones: el hurto se asocia con la recuperación</vt:lpstr>
      <vt:lpstr>1 · Integración relacional con DIVIPOLA 2 · Cero nulos por imputación lógica 3 · Conservar todos los outliers 4 · Estimadores robustos: mediana e IQR 5 · Escalador robusto (RobustScaler) 6 · One-Hot Encoding</vt:lpstr>
      <vt:lpstr>Variables escaladas con RobustScaler</vt:lpstr>
      <vt:lpstr>Árbol 1 · Motocicletas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Hurto y Recuperación de Vehículos en Colombia</dc:title>
  <dc:subject/>
  <dc:creator>Natali</dc:creator>
  <cp:lastModifiedBy>Angie Natalia Valencia Fonseca</cp:lastModifiedBy>
  <cp:revision>8</cp:revision>
  <dcterms:created xsi:type="dcterms:W3CDTF">2026-10-24T04:38:06Z</dcterms:created>
  <dcterms:modified xsi:type="dcterms:W3CDTF">2026-10-27T03:15:44Z</dcterms:modified>
</cp:coreProperties>
</file>